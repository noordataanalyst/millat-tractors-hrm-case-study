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D1B3E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D1B3E"/>
                </a:solidFill>
                <a:latin typeface="Arial" panose="020B0604020202020204"/>
              </a:rPr>
              <a:t>Employee Compensation Satisfaction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CA-407E-AD23-406B6AFBFE53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CA-407E-AD23-406B6AFBFE53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CA-407E-AD23-406B6AFBFE53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CA-407E-AD23-406B6AFBFE5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Satisfied (60–70%)</c:v>
                </c:pt>
                <c:pt idx="1">
                  <c:v>Unsatisfied (30–40%)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CA-407E-AD23-406B6AFBFE53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0c7d96c-c961-4a85-af2f-4bd326446f2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MTL (Current)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Recruitment</c:v>
                </c:pt>
                <c:pt idx="1">
                  <c:v>Training</c:v>
                </c:pt>
                <c:pt idx="2">
                  <c:v>Performance Mgmt</c:v>
                </c:pt>
                <c:pt idx="3">
                  <c:v>Compensation</c:v>
                </c:pt>
                <c:pt idx="4">
                  <c:v>Employee Relations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55</c:v>
                </c:pt>
                <c:pt idx="2">
                  <c:v>50</c:v>
                </c:pt>
                <c:pt idx="3">
                  <c:v>70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33-40BE-BC4C-3B8F18212F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Literature Standard</c:v>
                </c:pt>
              </c:strCache>
            </c:strRef>
          </c:tx>
          <c:spPr>
            <a:solidFill>
              <a:srgbClr val="E0E6E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Recruitment</c:v>
                </c:pt>
                <c:pt idx="1">
                  <c:v>Training</c:v>
                </c:pt>
                <c:pt idx="2">
                  <c:v>Performance Mgmt</c:v>
                </c:pt>
                <c:pt idx="3">
                  <c:v>Compensation</c:v>
                </c:pt>
                <c:pt idx="4">
                  <c:v>Employee Relations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33-40BE-BC4C-3B8F18212F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D3E50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FA1B3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0517504-02b5-4711-8241-b68ab128986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109728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1005840"/>
            <a:ext cx="1920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5669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ea typeface="Calibri" panose="020F0502020204030204" pitchFamily="34" charset="-122"/>
                <a:cs typeface="+mn-lt"/>
              </a:rPr>
              <a:t>HRM Practices in </a:t>
            </a:r>
            <a:r>
              <a:rPr lang="en-US" sz="2000" b="1" i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  <a:sym typeface="+mn-ea"/>
              </a:rPr>
              <a:t>Millat Tractors Limited</a:t>
            </a:r>
            <a:endParaRPr lang="en-US" sz="2000" b="1" i="1" dirty="0">
              <a:cs typeface="+mn-lt"/>
            </a:endParaRPr>
          </a:p>
          <a:p>
            <a:pPr marL="0" indent="0">
              <a:buNone/>
            </a:pPr>
            <a:endParaRPr lang="en-US" sz="2000" b="1" i="1" dirty="0">
              <a:solidFill>
                <a:schemeClr val="bg1"/>
              </a:solidFill>
              <a:ea typeface="Calibri" panose="020F0502020204030204" pitchFamily="34" charset="-122"/>
              <a:cs typeface="+mn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11425" y="723900"/>
            <a:ext cx="4072255" cy="792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190625"/>
            <a:ext cx="5029200" cy="45720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12590"/>
            <a:ext cx="8229600" cy="865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Management Sciences  •  Comsats University Islamabad, Lahore Campus  •  May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Box 11"/>
          <p:cNvSpPr txBox="1"/>
          <p:nvPr/>
        </p:nvSpPr>
        <p:spPr>
          <a:xfrm>
            <a:off x="1212850" y="2139950"/>
            <a:ext cx="6339840" cy="179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u="sng">
                <a:solidFill>
                  <a:schemeClr val="bg1"/>
                </a:solidFill>
              </a:rPr>
              <a:t>Submitted by: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Eman Rashid (FA24-BBD-025)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Hamnah Fatima Khan (FA24-BBD-031)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Noor ul Ain Zahid (FA24-BBD-069)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1"/>
                </a:solidFill>
              </a:rPr>
              <a:t>Rida Chaudhary (FA24-BBD-075)</a:t>
            </a:r>
          </a:p>
        </p:txBody>
      </p:sp>
      <p:pic>
        <p:nvPicPr>
          <p:cNvPr id="15" name="Picture 8" descr="Millat Tractors Ltd. – PAMA – Pakistan Automotiv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4"/>
          <a:stretch>
            <a:fillRect/>
          </a:stretch>
        </p:blipFill>
        <p:spPr>
          <a:xfrm>
            <a:off x="6050280" y="822960"/>
            <a:ext cx="2819400" cy="1645285"/>
          </a:xfrm>
          <a:prstGeom prst="triangl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65760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~70% Pakistan tractor market share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Structured, board-approved HR governance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Grade-based pay with market benchmarking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employee welfare benefits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EOBI &amp; labour law compliance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Kaizen culture &amp; employee ownership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65760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9144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Areas for Improvement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657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structured interview frameworks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evaluation not conducted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Annual-only performance appraisal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30–40% compensation dissatisfaction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engagement surveys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 rather than proactive 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Overview — Millat Tractors Limited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1417320"/>
          </a:xfrm>
          <a:prstGeom prst="rect">
            <a:avLst/>
          </a:prstGeom>
          <a:solidFill>
            <a:srgbClr val="0D1B3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02412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8912" y="17373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65960" cy="1417320"/>
          </a:xfrm>
          <a:prstGeom prst="rect">
            <a:avLst/>
          </a:prstGeom>
          <a:solidFill>
            <a:srgbClr val="0D1B3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42032" y="102412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42032" y="17373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65960" cy="1417320"/>
          </a:xfrm>
          <a:prstGeom prst="rect">
            <a:avLst/>
          </a:prstGeom>
          <a:solidFill>
            <a:srgbClr val="0D1B3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02412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45152" y="17373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Localization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1965960" cy="1417320"/>
          </a:xfrm>
          <a:prstGeom prst="rect">
            <a:avLst/>
          </a:prstGeom>
          <a:solidFill>
            <a:srgbClr val="0D1B3E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48272" y="102412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48272" y="173736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Employees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1965960" cy="1417320"/>
          </a:xfrm>
          <a:prstGeom prst="rect">
            <a:avLst/>
          </a:prstGeom>
          <a:solidFill>
            <a:srgbClr val="0D7377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67004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PSX:MTL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912" y="33832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Listed 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560320"/>
            <a:ext cx="1965960" cy="1417320"/>
          </a:xfrm>
          <a:prstGeom prst="rect">
            <a:avLst/>
          </a:prstGeom>
          <a:solidFill>
            <a:srgbClr val="0D7377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42032" y="267004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AGCO UK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542032" y="33832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License Partner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560320"/>
            <a:ext cx="1965960" cy="1417320"/>
          </a:xfrm>
          <a:prstGeom prst="rect">
            <a:avLst/>
          </a:prstGeom>
          <a:solidFill>
            <a:srgbClr val="0D7377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267004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SBUs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45152" y="33832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2560320"/>
            <a:ext cx="1965960" cy="1417320"/>
          </a:xfrm>
          <a:prstGeom prst="rect">
            <a:avLst/>
          </a:prstGeom>
          <a:solidFill>
            <a:srgbClr val="0D7377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48272" y="2670048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PKR 305M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48272" y="338328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1992 Buyout Price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Pakistan's leading agricultural &amp; industrial machinery manufacturer — Massey Ferguson tractors under AGCO UK license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Milestones in MTL's History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8229600" cy="7315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1964</a:t>
            </a:r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116205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Founded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Rana Tractors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" y="1920240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37360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292608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1967</a:t>
            </a:r>
          </a:p>
        </p:txBody>
      </p:sp>
      <p:sp>
        <p:nvSpPr>
          <p:cNvPr id="11" name="Text 9"/>
          <p:cNvSpPr/>
          <p:nvPr/>
        </p:nvSpPr>
        <p:spPr>
          <a:xfrm>
            <a:off x="1048385" y="3291840"/>
            <a:ext cx="130175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assembly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SKD kits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19656" y="2889504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61488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05456" y="214884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1972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8550" y="822960"/>
            <a:ext cx="143637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Nationalized;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renamed MTL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43784" y="1920240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85616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9584" y="292608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1982</a:t>
            </a:r>
          </a:p>
        </p:txBody>
      </p:sp>
      <p:sp>
        <p:nvSpPr>
          <p:cNvPr id="19" name="Text 17"/>
          <p:cNvSpPr/>
          <p:nvPr/>
        </p:nvSpPr>
        <p:spPr>
          <a:xfrm>
            <a:off x="3392424" y="3291840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tractor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 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67912" y="2889504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9744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53712" y="214884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1992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62755" y="822960"/>
            <a:ext cx="131508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buyout PKR305M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1920240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33872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292608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2001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40680" y="3291840"/>
            <a:ext cx="1005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subsidiaries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acquired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16168" y="2889504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01968" y="214884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2015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64935" y="822960"/>
            <a:ext cx="115379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40,000+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tractors/year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0296" y="1920240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882128" y="2679192"/>
            <a:ext cx="201168" cy="201168"/>
          </a:xfrm>
          <a:prstGeom prst="ellipse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26096" y="292608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7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</a:t>
            </a:r>
          </a:p>
        </p:txBody>
      </p:sp>
      <p:sp>
        <p:nvSpPr>
          <p:cNvPr id="35" name="Text 33"/>
          <p:cNvSpPr/>
          <p:nvPr/>
        </p:nvSpPr>
        <p:spPr>
          <a:xfrm>
            <a:off x="7334250" y="3291840"/>
            <a:ext cx="11607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 share,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IFS ERP &amp; solar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64424" y="2889504"/>
            <a:ext cx="36576" cy="777240"/>
          </a:xfrm>
          <a:prstGeom prst="rect">
            <a:avLst/>
          </a:prstGeom>
          <a:solidFill>
            <a:srgbClr val="8FA1B3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Organizational Structure &amp; Products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Hierarchy (Tall Structure)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2743200" cy="50292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 sz="1200" b="1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Board of Directors</a:t>
            </a:r>
          </a:p>
        </p:txBody>
      </p:sp>
      <p:sp>
        <p:nvSpPr>
          <p:cNvPr id="8" name="Shape 6"/>
          <p:cNvSpPr/>
          <p:nvPr/>
        </p:nvSpPr>
        <p:spPr>
          <a:xfrm>
            <a:off x="960120" y="1993392"/>
            <a:ext cx="2468880" cy="502920"/>
          </a:xfrm>
          <a:prstGeom prst="rect">
            <a:avLst/>
          </a:prstGeom>
          <a:solidFill>
            <a:srgbClr val="0D3A6E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9339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&amp; Senior Management</a:t>
            </a:r>
          </a:p>
        </p:txBody>
      </p:sp>
      <p:sp>
        <p:nvSpPr>
          <p:cNvPr id="10" name="Shape 8"/>
          <p:cNvSpPr/>
          <p:nvPr/>
        </p:nvSpPr>
        <p:spPr>
          <a:xfrm>
            <a:off x="1097280" y="2615184"/>
            <a:ext cx="2194560" cy="502920"/>
          </a:xfrm>
          <a:prstGeom prst="rect">
            <a:avLst/>
          </a:prstGeom>
          <a:solidFill>
            <a:srgbClr val="0D5B8A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615184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Managers</a:t>
            </a:r>
          </a:p>
        </p:txBody>
      </p:sp>
      <p:sp>
        <p:nvSpPr>
          <p:cNvPr id="12" name="Shape 10"/>
          <p:cNvSpPr/>
          <p:nvPr/>
        </p:nvSpPr>
        <p:spPr>
          <a:xfrm>
            <a:off x="1234440" y="3236976"/>
            <a:ext cx="1920240" cy="5029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36976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Managers</a:t>
            </a:r>
          </a:p>
        </p:txBody>
      </p:sp>
      <p:sp>
        <p:nvSpPr>
          <p:cNvPr id="14" name="Shape 12"/>
          <p:cNvSpPr/>
          <p:nvPr/>
        </p:nvSpPr>
        <p:spPr>
          <a:xfrm>
            <a:off x="1371600" y="3858768"/>
            <a:ext cx="1645920" cy="502920"/>
          </a:xfrm>
          <a:prstGeom prst="rect">
            <a:avLst/>
          </a:prstGeom>
          <a:solidFill>
            <a:srgbClr val="14BDA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3858768"/>
            <a:ext cx="1645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Supervisors / Staff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Strategic Business Units</a:t>
            </a:r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4023360" cy="65836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37160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 (Parent)</a:t>
            </a:r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MF Tractors, Generators, Forklifts, Implements</a:t>
            </a:r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023360" cy="658368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1488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Bolan Castings</a:t>
            </a:r>
          </a:p>
        </p:txBody>
      </p:sp>
      <p:sp>
        <p:nvSpPr>
          <p:cNvPr id="23" name="Text 21"/>
          <p:cNvSpPr/>
          <p:nvPr/>
        </p:nvSpPr>
        <p:spPr>
          <a:xfrm>
            <a:off x="4892040" y="24231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Foundry: cast components for tractors &amp; auto</a:t>
            </a:r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23360" cy="658368"/>
          </a:xfrm>
          <a:prstGeom prst="rect">
            <a:avLst/>
          </a:prstGeom>
          <a:solidFill>
            <a:srgbClr val="16637A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Millat Equipment</a:t>
            </a:r>
          </a:p>
        </p:txBody>
      </p:sp>
      <p:sp>
        <p:nvSpPr>
          <p:cNvPr id="26" name="Text 24"/>
          <p:cNvSpPr/>
          <p:nvPr/>
        </p:nvSpPr>
        <p:spPr>
          <a:xfrm>
            <a:off x="4892040" y="320040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Gears, hydraulic pumps, transaxles</a:t>
            </a:r>
          </a:p>
        </p:txBody>
      </p:sp>
      <p:sp>
        <p:nvSpPr>
          <p:cNvPr id="27" name="Shape 25"/>
          <p:cNvSpPr/>
          <p:nvPr/>
        </p:nvSpPr>
        <p:spPr>
          <a:xfrm>
            <a:off x="4754880" y="3703320"/>
            <a:ext cx="4023360" cy="658368"/>
          </a:xfrm>
          <a:prstGeom prst="rect">
            <a:avLst/>
          </a:prstGeom>
          <a:solidFill>
            <a:srgbClr val="1A7F7A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Millat Industrial</a:t>
            </a:r>
          </a:p>
        </p:txBody>
      </p:sp>
      <p:sp>
        <p:nvSpPr>
          <p:cNvPr id="29" name="Text 27"/>
          <p:cNvSpPr/>
          <p:nvPr/>
        </p:nvSpPr>
        <p:spPr>
          <a:xfrm>
            <a:off x="4892040" y="39776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Vehicular &amp; industrial batteries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Five Core HRM Functions at MTL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94360" cy="71323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94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4183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Recruitment &amp; Selection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partnerships, LinkedIn, referrals; panel interviews for senior roles; board-approved positions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594360" cy="713232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594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76479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raining &amp; Development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curve reinforcement model; internal &amp; external trainers; TNA via manager feedback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594360" cy="71323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594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58775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KPI-based appraisals covering technical &amp; behavioral dimensions; linked to salary increments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841248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594360" cy="713232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594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41071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Compensation &amp; Benefits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70332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5-grade pay structure; market surveys vs. 10+ peers; welfare grants, insurance, EOBI, bonuses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594360" cy="71323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594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233672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Relations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526280"/>
            <a:ext cx="7589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HOD → HR → IR escalation; labor union collective bargaining; compliance checklists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Recruitment &amp; Selection — MTL vs. Literature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45920" cy="384048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554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</a:t>
            </a:r>
          </a:p>
        </p:txBody>
      </p:sp>
      <p:sp>
        <p:nvSpPr>
          <p:cNvPr id="6" name="Shape 4"/>
          <p:cNvSpPr/>
          <p:nvPr/>
        </p:nvSpPr>
        <p:spPr>
          <a:xfrm>
            <a:off x="1965960" y="868680"/>
            <a:ext cx="2743200" cy="384048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0" y="868680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Recommends</a:t>
            </a:r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2743200" cy="384048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 Practice</a:t>
            </a:r>
          </a:p>
        </p:txBody>
      </p:sp>
      <p:sp>
        <p:nvSpPr>
          <p:cNvPr id="10" name="Shape 8"/>
          <p:cNvSpPr/>
          <p:nvPr/>
        </p:nvSpPr>
        <p:spPr>
          <a:xfrm>
            <a:off x="7452360" y="868680"/>
            <a:ext cx="868680" cy="384048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0" y="868680"/>
            <a:ext cx="777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1252728"/>
            <a:ext cx="164592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252728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Sourcing</a:t>
            </a:r>
          </a:p>
        </p:txBody>
      </p:sp>
      <p:sp>
        <p:nvSpPr>
          <p:cNvPr id="14" name="Shape 12"/>
          <p:cNvSpPr/>
          <p:nvPr/>
        </p:nvSpPr>
        <p:spPr>
          <a:xfrm>
            <a:off x="1965960" y="1252728"/>
            <a:ext cx="274320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125272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Multi-channel + employer brand</a:t>
            </a:r>
          </a:p>
        </p:txBody>
      </p:sp>
      <p:sp>
        <p:nvSpPr>
          <p:cNvPr id="16" name="Shape 14"/>
          <p:cNvSpPr/>
          <p:nvPr/>
        </p:nvSpPr>
        <p:spPr>
          <a:xfrm>
            <a:off x="4709160" y="1252728"/>
            <a:ext cx="274320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25272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LinkedIn, social media, referrals</a:t>
            </a:r>
          </a:p>
        </p:txBody>
      </p:sp>
      <p:sp>
        <p:nvSpPr>
          <p:cNvPr id="18" name="Shape 16"/>
          <p:cNvSpPr/>
          <p:nvPr/>
        </p:nvSpPr>
        <p:spPr>
          <a:xfrm>
            <a:off x="7452360" y="1252728"/>
            <a:ext cx="86868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1252728"/>
            <a:ext cx="777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1755648"/>
            <a:ext cx="164592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755648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Method</a:t>
            </a:r>
          </a:p>
        </p:txBody>
      </p:sp>
      <p:sp>
        <p:nvSpPr>
          <p:cNvPr id="22" name="Shape 20"/>
          <p:cNvSpPr/>
          <p:nvPr/>
        </p:nvSpPr>
        <p:spPr>
          <a:xfrm>
            <a:off x="1965960" y="1755648"/>
            <a:ext cx="274320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175564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behavioral with scoring</a:t>
            </a:r>
          </a:p>
        </p:txBody>
      </p:sp>
      <p:sp>
        <p:nvSpPr>
          <p:cNvPr id="24" name="Shape 22"/>
          <p:cNvSpPr/>
          <p:nvPr/>
        </p:nvSpPr>
        <p:spPr>
          <a:xfrm>
            <a:off x="4709160" y="1755648"/>
            <a:ext cx="274320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75564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standard structure; panel for seniors</a:t>
            </a:r>
          </a:p>
        </p:txBody>
      </p:sp>
      <p:sp>
        <p:nvSpPr>
          <p:cNvPr id="26" name="Shape 24"/>
          <p:cNvSpPr/>
          <p:nvPr/>
        </p:nvSpPr>
        <p:spPr>
          <a:xfrm>
            <a:off x="7452360" y="1755648"/>
            <a:ext cx="86868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1755648"/>
            <a:ext cx="777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" y="2258568"/>
            <a:ext cx="164592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258568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Tools</a:t>
            </a:r>
          </a:p>
        </p:txBody>
      </p:sp>
      <p:sp>
        <p:nvSpPr>
          <p:cNvPr id="30" name="Shape 28"/>
          <p:cNvSpPr/>
          <p:nvPr/>
        </p:nvSpPr>
        <p:spPr>
          <a:xfrm>
            <a:off x="1965960" y="2258568"/>
            <a:ext cx="274320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11680" y="225856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Aptitude &amp; psychometric tests</a:t>
            </a:r>
          </a:p>
        </p:txBody>
      </p:sp>
      <p:sp>
        <p:nvSpPr>
          <p:cNvPr id="32" name="Shape 30"/>
          <p:cNvSpPr/>
          <p:nvPr/>
        </p:nvSpPr>
        <p:spPr>
          <a:xfrm>
            <a:off x="4709160" y="2258568"/>
            <a:ext cx="274320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25856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tests used</a:t>
            </a:r>
          </a:p>
        </p:txBody>
      </p:sp>
      <p:sp>
        <p:nvSpPr>
          <p:cNvPr id="34" name="Shape 32"/>
          <p:cNvSpPr/>
          <p:nvPr/>
        </p:nvSpPr>
        <p:spPr>
          <a:xfrm>
            <a:off x="7452360" y="2258568"/>
            <a:ext cx="86868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0" y="2258568"/>
            <a:ext cx="777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</a:p>
        </p:txBody>
      </p:sp>
      <p:sp>
        <p:nvSpPr>
          <p:cNvPr id="36" name="Shape 34"/>
          <p:cNvSpPr/>
          <p:nvPr/>
        </p:nvSpPr>
        <p:spPr>
          <a:xfrm>
            <a:off x="320040" y="2761488"/>
            <a:ext cx="164592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761488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Analysis</a:t>
            </a:r>
          </a:p>
        </p:txBody>
      </p:sp>
      <p:sp>
        <p:nvSpPr>
          <p:cNvPr id="38" name="Shape 36"/>
          <p:cNvSpPr/>
          <p:nvPr/>
        </p:nvSpPr>
        <p:spPr>
          <a:xfrm>
            <a:off x="1965960" y="2761488"/>
            <a:ext cx="274320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011680" y="276148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Competency-based frameworks</a:t>
            </a:r>
          </a:p>
        </p:txBody>
      </p:sp>
      <p:sp>
        <p:nvSpPr>
          <p:cNvPr id="40" name="Shape 38"/>
          <p:cNvSpPr/>
          <p:nvPr/>
        </p:nvSpPr>
        <p:spPr>
          <a:xfrm>
            <a:off x="4709160" y="2761488"/>
            <a:ext cx="274320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276148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HOD-led JD/JS; team-validated</a:t>
            </a:r>
          </a:p>
        </p:txBody>
      </p:sp>
      <p:sp>
        <p:nvSpPr>
          <p:cNvPr id="42" name="Shape 40"/>
          <p:cNvSpPr/>
          <p:nvPr/>
        </p:nvSpPr>
        <p:spPr>
          <a:xfrm>
            <a:off x="7452360" y="2761488"/>
            <a:ext cx="86868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98080" y="2761488"/>
            <a:ext cx="777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</a:t>
            </a:r>
          </a:p>
        </p:txBody>
      </p:sp>
      <p:sp>
        <p:nvSpPr>
          <p:cNvPr id="44" name="Shape 42"/>
          <p:cNvSpPr/>
          <p:nvPr/>
        </p:nvSpPr>
        <p:spPr>
          <a:xfrm>
            <a:off x="320040" y="3264408"/>
            <a:ext cx="164592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3264408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Selection</a:t>
            </a:r>
          </a:p>
        </p:txBody>
      </p:sp>
      <p:sp>
        <p:nvSpPr>
          <p:cNvPr id="46" name="Shape 44"/>
          <p:cNvSpPr/>
          <p:nvPr/>
        </p:nvSpPr>
        <p:spPr>
          <a:xfrm>
            <a:off x="1965960" y="3264408"/>
            <a:ext cx="274320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011680" y="326440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Multi-assessor panels</a:t>
            </a:r>
          </a:p>
        </p:txBody>
      </p:sp>
      <p:sp>
        <p:nvSpPr>
          <p:cNvPr id="48" name="Shape 46"/>
          <p:cNvSpPr/>
          <p:nvPr/>
        </p:nvSpPr>
        <p:spPr>
          <a:xfrm>
            <a:off x="4709160" y="3264408"/>
            <a:ext cx="274320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0" y="326440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 + multi-HOD panel</a:t>
            </a:r>
          </a:p>
        </p:txBody>
      </p:sp>
      <p:sp>
        <p:nvSpPr>
          <p:cNvPr id="50" name="Shape 48"/>
          <p:cNvSpPr/>
          <p:nvPr/>
        </p:nvSpPr>
        <p:spPr>
          <a:xfrm>
            <a:off x="7452360" y="3264408"/>
            <a:ext cx="868680" cy="4754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98080" y="3264408"/>
            <a:ext cx="777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</a:p>
        </p:txBody>
      </p:sp>
      <p:sp>
        <p:nvSpPr>
          <p:cNvPr id="52" name="Shape 50"/>
          <p:cNvSpPr/>
          <p:nvPr/>
        </p:nvSpPr>
        <p:spPr>
          <a:xfrm>
            <a:off x="320040" y="3767328"/>
            <a:ext cx="164592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3767328"/>
            <a:ext cx="15544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Employer Branding</a:t>
            </a:r>
          </a:p>
        </p:txBody>
      </p:sp>
      <p:sp>
        <p:nvSpPr>
          <p:cNvPr id="54" name="Shape 52"/>
          <p:cNvSpPr/>
          <p:nvPr/>
        </p:nvSpPr>
        <p:spPr>
          <a:xfrm>
            <a:off x="1965960" y="3767328"/>
            <a:ext cx="274320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011680" y="376732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 in brand campaigns</a:t>
            </a:r>
          </a:p>
        </p:txBody>
      </p:sp>
      <p:sp>
        <p:nvSpPr>
          <p:cNvPr id="56" name="Shape 54"/>
          <p:cNvSpPr/>
          <p:nvPr/>
        </p:nvSpPr>
        <p:spPr>
          <a:xfrm>
            <a:off x="4709160" y="3767328"/>
            <a:ext cx="274320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54880" y="3767328"/>
            <a:ext cx="26517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branding strategy</a:t>
            </a:r>
          </a:p>
        </p:txBody>
      </p:sp>
      <p:sp>
        <p:nvSpPr>
          <p:cNvPr id="58" name="Shape 56"/>
          <p:cNvSpPr/>
          <p:nvPr/>
        </p:nvSpPr>
        <p:spPr>
          <a:xfrm>
            <a:off x="7452360" y="3767328"/>
            <a:ext cx="868680" cy="47548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498080" y="3767328"/>
            <a:ext cx="777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</a:p>
        </p:txBody>
      </p:sp>
      <p:sp>
        <p:nvSpPr>
          <p:cNvPr id="60" name="Text 58"/>
          <p:cNvSpPr/>
          <p:nvPr/>
        </p:nvSpPr>
        <p:spPr>
          <a:xfrm>
            <a:off x="365760" y="45720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Aligned   ~ Partial   ✗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&amp; Development — MTL vs. Literature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84048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MTL's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3337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Centrally managed training budget (Head Office)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curve reinforcement model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internal &amp; external trainers used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TNA via manager feedback + soft skill gaps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aligned to AGCO UK standards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Quarterly Kaizen events for all employees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IFS ERP training for relevant staff</a:t>
            </a:r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182880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Recommends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840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3-level TNA (org, task, person)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Blended learning methods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Kirkpatrick's 4-level evaluation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Transfer-supportive managemen</a:t>
            </a:r>
            <a:r>
              <a:rPr lang="en-US" sz="11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114800" cy="196596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114800" cy="38404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834640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Gaps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291840"/>
            <a:ext cx="38404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training evaluation system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TNA misses organizational-level analysis</a:t>
            </a:r>
            <a:endParaRPr lang="en-US" sz="12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blended/digital learning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Compensation &amp; Benefits at MTL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5-Grade Pay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2560320" cy="54864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5 — Deputy General Manager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2834640" cy="548640"/>
          </a:xfrm>
          <a:prstGeom prst="rect">
            <a:avLst/>
          </a:prstGeom>
          <a:solidFill>
            <a:srgbClr val="0D3A6E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847088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4 — Manager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3108960" cy="548640"/>
          </a:xfrm>
          <a:prstGeom prst="rect">
            <a:avLst/>
          </a:prstGeom>
          <a:solidFill>
            <a:srgbClr val="0D5B8A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05456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3 — Deputy Manager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3383280" cy="54864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163824"/>
            <a:ext cx="3200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2 — Assistant Manager</a:t>
            </a:r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3657600" cy="548640"/>
          </a:xfrm>
          <a:prstGeom prst="rect">
            <a:avLst/>
          </a:prstGeom>
          <a:solidFill>
            <a:srgbClr val="14BDAC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 1 — Junior Executive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0" y="82296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 Package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06240" cy="65836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54864" cy="65836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81728" y="1188720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1728" y="144475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bonus · Salary bonus · 5% profit share · Annual increment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38528"/>
            <a:ext cx="420624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1938528"/>
            <a:ext cx="54864" cy="65836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1938528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Welfare Grants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19456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Children education · Marriage grant · Death grant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688336"/>
            <a:ext cx="4206240" cy="65836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2688336"/>
            <a:ext cx="54864" cy="65836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81728" y="2688336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Insurance &amp; Legal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1728" y="294436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insurance (East/West Adam GT) · EOBI · Social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438144"/>
            <a:ext cx="420624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3438144"/>
            <a:ext cx="54864" cy="65836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81728" y="3438144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Allowances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81728" y="3694176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Travel allowance · Fuel incentive · House rent (revised 2×/year)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187952"/>
            <a:ext cx="4206240" cy="658368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4187952"/>
            <a:ext cx="54864" cy="65836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81728" y="4187952"/>
            <a:ext cx="4023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Leave Entitlements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81728" y="4443984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· Casual · Sick · Hajj leave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benchmarked against 10+ industry peers · Post-merger benefits standardized across all entities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Compensation — Analysis &amp; Key Findings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68680"/>
          <a:ext cx="3657600" cy="331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8686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1280160"/>
            <a:ext cx="4206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Grade-based structure ensures internal equity</a:t>
            </a:r>
            <a:endParaRPr lang="en-US" sz="12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market surveys vs. 10+ peer companies</a:t>
            </a:r>
            <a:endParaRPr lang="en-US" sz="12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Post-merger standardization ensures fairness</a:t>
            </a:r>
            <a:endParaRPr lang="en-US" sz="12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welfare grants beyond legal minimum</a:t>
            </a:r>
          </a:p>
        </p:txBody>
      </p:sp>
      <p:sp>
        <p:nvSpPr>
          <p:cNvPr id="7" name="Shape 4"/>
          <p:cNvSpPr/>
          <p:nvPr/>
        </p:nvSpPr>
        <p:spPr>
          <a:xfrm>
            <a:off x="4572000" y="2834640"/>
            <a:ext cx="4206240" cy="36576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Gaps &amp; Opportunities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3337560"/>
            <a:ext cx="4206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30–40% employees have unmet pay expectations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formal pay equity audit conducted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flexible/customizable benefits program</a:t>
            </a:r>
            <a:endParaRPr lang="en-US" sz="1200" b="1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 surveys lack statistical rigor</a:t>
            </a:r>
            <a:endParaRPr lang="en-US" sz="1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Management — MTL vs. Best Practice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MTL's Current Annual 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68680" cy="118872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68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 Setting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(KPIs)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17320" y="1234440"/>
            <a:ext cx="868680" cy="1188720"/>
          </a:xfrm>
          <a:prstGeom prst="rect">
            <a:avLst/>
          </a:prstGeom>
          <a:solidFill>
            <a:srgbClr val="0D3A6E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1234440"/>
            <a:ext cx="868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of 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664208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868680" cy="118872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234440"/>
            <a:ext cx="868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Appraisal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664208"/>
            <a:ext cx="182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20440" y="1234440"/>
            <a:ext cx="868680" cy="1188720"/>
          </a:xfrm>
          <a:prstGeom prst="rect">
            <a:avLst/>
          </a:prstGeom>
          <a:solidFill>
            <a:srgbClr val="14BDA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234440"/>
            <a:ext cx="8686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42032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12-month gap between feedback cycles — too slow for modern performance improvement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82296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 vs. Modern PM (Literature)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234440"/>
            <a:ext cx="4206240" cy="43891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234440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</a:t>
            </a:r>
          </a:p>
        </p:txBody>
      </p:sp>
      <p:sp>
        <p:nvSpPr>
          <p:cNvPr id="20" name="Text 18"/>
          <p:cNvSpPr/>
          <p:nvPr/>
        </p:nvSpPr>
        <p:spPr>
          <a:xfrm>
            <a:off x="5833872" y="1234440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only</a:t>
            </a:r>
          </a:p>
        </p:txBody>
      </p:sp>
      <p:sp>
        <p:nvSpPr>
          <p:cNvPr id="21" name="Text 19"/>
          <p:cNvSpPr/>
          <p:nvPr/>
        </p:nvSpPr>
        <p:spPr>
          <a:xfrm>
            <a:off x="7278624" y="123444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check-ins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0" y="1691640"/>
            <a:ext cx="4206240" cy="43891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1691640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 Method</a:t>
            </a:r>
          </a:p>
        </p:txBody>
      </p:sp>
      <p:sp>
        <p:nvSpPr>
          <p:cNvPr id="24" name="Text 22"/>
          <p:cNvSpPr/>
          <p:nvPr/>
        </p:nvSpPr>
        <p:spPr>
          <a:xfrm>
            <a:off x="5833872" y="1691640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framework</a:t>
            </a:r>
          </a:p>
        </p:txBody>
      </p:sp>
      <p:sp>
        <p:nvSpPr>
          <p:cNvPr id="25" name="Text 23"/>
          <p:cNvSpPr/>
          <p:nvPr/>
        </p:nvSpPr>
        <p:spPr>
          <a:xfrm>
            <a:off x="7278624" y="169164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+ OKRs</a:t>
            </a:r>
          </a:p>
        </p:txBody>
      </p:sp>
      <p:sp>
        <p:nvSpPr>
          <p:cNvPr id="26" name="Shape 24"/>
          <p:cNvSpPr/>
          <p:nvPr/>
        </p:nvSpPr>
        <p:spPr>
          <a:xfrm>
            <a:off x="4572000" y="2148840"/>
            <a:ext cx="4206240" cy="43891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2148840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</a:t>
            </a:r>
          </a:p>
        </p:txBody>
      </p:sp>
      <p:sp>
        <p:nvSpPr>
          <p:cNvPr id="28" name="Text 26"/>
          <p:cNvSpPr/>
          <p:nvPr/>
        </p:nvSpPr>
        <p:spPr>
          <a:xfrm>
            <a:off x="5833872" y="2148840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 year-end</a:t>
            </a:r>
          </a:p>
        </p:txBody>
      </p:sp>
      <p:sp>
        <p:nvSpPr>
          <p:cNvPr id="29" name="Text 27"/>
          <p:cNvSpPr/>
          <p:nvPr/>
        </p:nvSpPr>
        <p:spPr>
          <a:xfrm>
            <a:off x="7278624" y="214884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developmental</a:t>
            </a:r>
          </a:p>
        </p:txBody>
      </p:sp>
      <p:sp>
        <p:nvSpPr>
          <p:cNvPr id="30" name="Shape 28"/>
          <p:cNvSpPr/>
          <p:nvPr/>
        </p:nvSpPr>
        <p:spPr>
          <a:xfrm>
            <a:off x="4572000" y="2606040"/>
            <a:ext cx="4206240" cy="43891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2606040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Link</a:t>
            </a:r>
          </a:p>
        </p:txBody>
      </p:sp>
      <p:sp>
        <p:nvSpPr>
          <p:cNvPr id="32" name="Text 30"/>
          <p:cNvSpPr/>
          <p:nvPr/>
        </p:nvSpPr>
        <p:spPr>
          <a:xfrm>
            <a:off x="5833872" y="2606040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Clear link</a:t>
            </a:r>
          </a:p>
        </p:txBody>
      </p:sp>
      <p:sp>
        <p:nvSpPr>
          <p:cNvPr id="33" name="Text 31"/>
          <p:cNvSpPr/>
          <p:nvPr/>
        </p:nvSpPr>
        <p:spPr>
          <a:xfrm>
            <a:off x="7278624" y="260604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Retained + transparency</a:t>
            </a:r>
          </a:p>
        </p:txBody>
      </p:sp>
      <p:sp>
        <p:nvSpPr>
          <p:cNvPr id="34" name="Shape 32"/>
          <p:cNvSpPr/>
          <p:nvPr/>
        </p:nvSpPr>
        <p:spPr>
          <a:xfrm>
            <a:off x="4572000" y="3063240"/>
            <a:ext cx="4206240" cy="43891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063240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Recognition</a:t>
            </a:r>
          </a:p>
        </p:txBody>
      </p:sp>
      <p:sp>
        <p:nvSpPr>
          <p:cNvPr id="36" name="Text 34"/>
          <p:cNvSpPr/>
          <p:nvPr/>
        </p:nvSpPr>
        <p:spPr>
          <a:xfrm>
            <a:off x="5833872" y="3063240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Appreciation events</a:t>
            </a:r>
          </a:p>
        </p:txBody>
      </p:sp>
      <p:sp>
        <p:nvSpPr>
          <p:cNvPr id="37" name="Text 35"/>
          <p:cNvSpPr/>
          <p:nvPr/>
        </p:nvSpPr>
        <p:spPr>
          <a:xfrm>
            <a:off x="7278624" y="306324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Long-service awards</a:t>
            </a:r>
          </a:p>
        </p:txBody>
      </p:sp>
      <p:sp>
        <p:nvSpPr>
          <p:cNvPr id="38" name="Shape 36"/>
          <p:cNvSpPr/>
          <p:nvPr/>
        </p:nvSpPr>
        <p:spPr>
          <a:xfrm>
            <a:off x="4572000" y="3520440"/>
            <a:ext cx="4206240" cy="43891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17720" y="3520440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</a:p>
        </p:txBody>
      </p:sp>
      <p:sp>
        <p:nvSpPr>
          <p:cNvPr id="40" name="Text 38"/>
          <p:cNvSpPr/>
          <p:nvPr/>
        </p:nvSpPr>
        <p:spPr>
          <a:xfrm>
            <a:off x="5833872" y="3520440"/>
            <a:ext cx="1417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used</a:t>
            </a:r>
          </a:p>
        </p:txBody>
      </p:sp>
      <p:sp>
        <p:nvSpPr>
          <p:cNvPr id="41" name="Text 39"/>
          <p:cNvSpPr/>
          <p:nvPr/>
        </p:nvSpPr>
        <p:spPr>
          <a:xfrm>
            <a:off x="7278624" y="352044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analytics (trend)</a:t>
            </a:r>
          </a:p>
        </p:txBody>
      </p:sp>
      <p:sp>
        <p:nvSpPr>
          <p:cNvPr id="42" name="Text 40"/>
          <p:cNvSpPr/>
          <p:nvPr/>
        </p:nvSpPr>
        <p:spPr>
          <a:xfrm>
            <a:off x="4572000" y="4041648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= Current MTL   Green = Literature Standard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3063240"/>
            <a:ext cx="3931920" cy="173736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65760" y="3063240"/>
            <a:ext cx="3931920" cy="347472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306324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Adobe Check-In Model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3456432"/>
            <a:ext cx="3749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Replaced annual appraisals with frequent manager-employee check-ins covering: goal progress, recent feedback, and career development. Result: measurably lower voluntary turnover and higher engagement scores.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Relations — Structure &amp; Gaps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Grievance Escalation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657600" cy="822960"/>
          </a:xfrm>
          <a:prstGeom prst="rect">
            <a:avLst/>
          </a:prstGeom>
          <a:solidFill>
            <a:srgbClr val="14BDA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029968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3657600" cy="82296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3054096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1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255264"/>
            <a:ext cx="3657600" cy="82296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55264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 Dept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804672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3 Pillars of Employee Relations (Literature)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4206240" cy="89611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54864" cy="89611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81728" y="1234440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✉  Communication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1581912"/>
            <a:ext cx="3977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Two-way flow: downward (policy), upward (voice), lateral (peers)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4206240" cy="89611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54864" cy="89611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81728" y="2286000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  Conflict Resolution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81728" y="2633472"/>
            <a:ext cx="3977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Fair, accessible grievance procedures at lowest possible level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337560"/>
            <a:ext cx="4206240" cy="89611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0" y="3337560"/>
            <a:ext cx="54864" cy="89611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1728" y="3337560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❤  Employee Engagement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81728" y="3685032"/>
            <a:ext cx="3977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Gallup: top-quartile engagement = +23% profitability, -18% turnover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370832"/>
            <a:ext cx="8138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Gap: MTL manages ER reactively (complaint-response). No formal engagement surveys, no psychological contract management — misses proactive engagement.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of Major HR Implementation Gaps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737360" cy="38404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1645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 Function</a:t>
            </a:r>
          </a:p>
        </p:txBody>
      </p:sp>
      <p:sp>
        <p:nvSpPr>
          <p:cNvPr id="6" name="Shape 4"/>
          <p:cNvSpPr/>
          <p:nvPr/>
        </p:nvSpPr>
        <p:spPr>
          <a:xfrm>
            <a:off x="2057400" y="841248"/>
            <a:ext cx="3017520" cy="38404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03120" y="841248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Gap</a:t>
            </a:r>
          </a:p>
        </p:txBody>
      </p:sp>
      <p:sp>
        <p:nvSpPr>
          <p:cNvPr id="8" name="Shape 6"/>
          <p:cNvSpPr/>
          <p:nvPr/>
        </p:nvSpPr>
        <p:spPr>
          <a:xfrm>
            <a:off x="5074920" y="841248"/>
            <a:ext cx="4023360" cy="384048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841248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Recommendation</a:t>
            </a:r>
          </a:p>
        </p:txBody>
      </p:sp>
      <p:sp>
        <p:nvSpPr>
          <p:cNvPr id="10" name="Shape 8"/>
          <p:cNvSpPr/>
          <p:nvPr/>
        </p:nvSpPr>
        <p:spPr>
          <a:xfrm>
            <a:off x="320040" y="1225296"/>
            <a:ext cx="173736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225296"/>
            <a:ext cx="54864" cy="65836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" y="1225296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Recruitment</a:t>
            </a:r>
          </a:p>
        </p:txBody>
      </p:sp>
      <p:sp>
        <p:nvSpPr>
          <p:cNvPr id="13" name="Shape 11"/>
          <p:cNvSpPr/>
          <p:nvPr/>
        </p:nvSpPr>
        <p:spPr>
          <a:xfrm>
            <a:off x="2057400" y="1225296"/>
            <a:ext cx="301752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30552" y="1225296"/>
            <a:ext cx="2880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structured interviews or assessment tests</a:t>
            </a:r>
          </a:p>
        </p:txBody>
      </p:sp>
      <p:sp>
        <p:nvSpPr>
          <p:cNvPr id="15" name="Shape 13"/>
          <p:cNvSpPr/>
          <p:nvPr/>
        </p:nvSpPr>
        <p:spPr>
          <a:xfrm>
            <a:off x="5074920" y="1225296"/>
            <a:ext cx="402336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48072" y="122529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frameworks with scoring; aptitude tests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1911096"/>
            <a:ext cx="1737360" cy="658368"/>
          </a:xfrm>
          <a:prstGeom prst="rect">
            <a:avLst/>
          </a:prstGeom>
          <a:solidFill>
            <a:srgbClr val="EDF2F7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1911096"/>
            <a:ext cx="54864" cy="65836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1911096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</a:p>
        </p:txBody>
      </p:sp>
      <p:sp>
        <p:nvSpPr>
          <p:cNvPr id="20" name="Shape 18"/>
          <p:cNvSpPr/>
          <p:nvPr/>
        </p:nvSpPr>
        <p:spPr>
          <a:xfrm>
            <a:off x="1765935" y="1832356"/>
            <a:ext cx="3017520" cy="658368"/>
          </a:xfrm>
          <a:prstGeom prst="rect">
            <a:avLst/>
          </a:prstGeom>
          <a:solidFill>
            <a:srgbClr val="EDF2F7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30552" y="1911096"/>
            <a:ext cx="2880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training evaluation; incomplete TNA</a:t>
            </a:r>
          </a:p>
        </p:txBody>
      </p:sp>
      <p:sp>
        <p:nvSpPr>
          <p:cNvPr id="22" name="Shape 20"/>
          <p:cNvSpPr/>
          <p:nvPr/>
        </p:nvSpPr>
        <p:spPr>
          <a:xfrm>
            <a:off x="5074920" y="1911096"/>
            <a:ext cx="4023360" cy="658368"/>
          </a:xfrm>
          <a:prstGeom prst="rect">
            <a:avLst/>
          </a:prstGeom>
          <a:solidFill>
            <a:srgbClr val="EDF2F7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48072" y="191109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Kirkpatrick 4-level eval; full 3-level TNA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2596896"/>
            <a:ext cx="173736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596896"/>
            <a:ext cx="54864" cy="65836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" y="2596896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Mgmt</a:t>
            </a:r>
          </a:p>
        </p:txBody>
      </p:sp>
      <p:sp>
        <p:nvSpPr>
          <p:cNvPr id="27" name="Shape 25"/>
          <p:cNvSpPr/>
          <p:nvPr/>
        </p:nvSpPr>
        <p:spPr>
          <a:xfrm>
            <a:off x="2057400" y="2596896"/>
            <a:ext cx="301752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30552" y="2596896"/>
            <a:ext cx="2880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Annual-only reviews; no mid-year feedback</a:t>
            </a:r>
          </a:p>
        </p:txBody>
      </p:sp>
      <p:sp>
        <p:nvSpPr>
          <p:cNvPr id="29" name="Shape 27"/>
          <p:cNvSpPr/>
          <p:nvPr/>
        </p:nvSpPr>
        <p:spPr>
          <a:xfrm>
            <a:off x="5074920" y="2596896"/>
            <a:ext cx="402336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48072" y="259689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check-ins; manager coaching skills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3282696"/>
            <a:ext cx="1737360" cy="658368"/>
          </a:xfrm>
          <a:prstGeom prst="rect">
            <a:avLst/>
          </a:prstGeom>
          <a:solidFill>
            <a:srgbClr val="EDF2F7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3282696"/>
            <a:ext cx="54864" cy="65836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9768" y="3282696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Compensation</a:t>
            </a:r>
          </a:p>
        </p:txBody>
      </p:sp>
      <p:sp>
        <p:nvSpPr>
          <p:cNvPr id="34" name="Shape 32"/>
          <p:cNvSpPr/>
          <p:nvPr/>
        </p:nvSpPr>
        <p:spPr>
          <a:xfrm>
            <a:off x="2057400" y="3282696"/>
            <a:ext cx="3017520" cy="658368"/>
          </a:xfrm>
          <a:prstGeom prst="rect">
            <a:avLst/>
          </a:prstGeom>
          <a:solidFill>
            <a:srgbClr val="EDF2F7"/>
          </a:solidFill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30552" y="3282696"/>
            <a:ext cx="2880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30–40% dissatisfaction; no equity audit</a:t>
            </a:r>
          </a:p>
        </p:txBody>
      </p:sp>
      <p:sp>
        <p:nvSpPr>
          <p:cNvPr id="36" name="Shape 34"/>
          <p:cNvSpPr/>
          <p:nvPr/>
        </p:nvSpPr>
        <p:spPr>
          <a:xfrm>
            <a:off x="5074920" y="3282696"/>
            <a:ext cx="4023360" cy="658368"/>
          </a:xfrm>
          <a:prstGeom prst="rect">
            <a:avLst/>
          </a:prstGeom>
          <a:solidFill>
            <a:srgbClr val="EDF2F7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48072" y="328269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equity audit; flexible benefits; transparency</a:t>
            </a:r>
          </a:p>
        </p:txBody>
      </p:sp>
      <p:sp>
        <p:nvSpPr>
          <p:cNvPr id="38" name="Shape 36"/>
          <p:cNvSpPr/>
          <p:nvPr/>
        </p:nvSpPr>
        <p:spPr>
          <a:xfrm>
            <a:off x="320040" y="3968496"/>
            <a:ext cx="173736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" y="3968496"/>
            <a:ext cx="54864" cy="658368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9768" y="3968496"/>
            <a:ext cx="1600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Relations</a:t>
            </a:r>
          </a:p>
        </p:txBody>
      </p:sp>
      <p:sp>
        <p:nvSpPr>
          <p:cNvPr id="41" name="Shape 39"/>
          <p:cNvSpPr/>
          <p:nvPr/>
        </p:nvSpPr>
        <p:spPr>
          <a:xfrm>
            <a:off x="2057400" y="3968496"/>
            <a:ext cx="301752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30552" y="3968496"/>
            <a:ext cx="288036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 only; no engagement measurement</a:t>
            </a:r>
          </a:p>
        </p:txBody>
      </p:sp>
      <p:sp>
        <p:nvSpPr>
          <p:cNvPr id="43" name="Shape 41"/>
          <p:cNvSpPr/>
          <p:nvPr/>
        </p:nvSpPr>
        <p:spPr>
          <a:xfrm>
            <a:off x="5074920" y="3968496"/>
            <a:ext cx="4023360" cy="65836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48072" y="3968496"/>
            <a:ext cx="38862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surveys; proactive listening strategy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Discussion: Study Objectives &amp; Findings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783080"/>
          </a:xfrm>
          <a:prstGeom prst="rect">
            <a:avLst/>
          </a:prstGeom>
          <a:solidFill>
            <a:srgbClr val="F4F7FB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178308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</a:p>
        </p:txBody>
      </p:sp>
      <p:sp>
        <p:nvSpPr>
          <p:cNvPr id="7" name="Text 5"/>
          <p:cNvSpPr/>
          <p:nvPr/>
        </p:nvSpPr>
        <p:spPr>
          <a:xfrm>
            <a:off x="960120" y="978408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HR Practices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1380744"/>
            <a:ext cx="3429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MTL has all 5 core HR functions operational and board-governed. Gap: functions operate at operational depth, not strategic depth.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783080"/>
          </a:xfrm>
          <a:prstGeom prst="rect">
            <a:avLst/>
          </a:prstGeom>
          <a:solidFill>
            <a:srgbClr val="F4F7FB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502920" cy="178308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</a:p>
        </p:txBody>
      </p:sp>
      <p:sp>
        <p:nvSpPr>
          <p:cNvPr id="12" name="Text 10"/>
          <p:cNvSpPr/>
          <p:nvPr/>
        </p:nvSpPr>
        <p:spPr>
          <a:xfrm>
            <a:off x="5349240" y="978408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Recruitment &amp; Training Systems</a:t>
            </a:r>
          </a:p>
        </p:txBody>
      </p:sp>
      <p:sp>
        <p:nvSpPr>
          <p:cNvPr id="13" name="Text 11"/>
          <p:cNvSpPr/>
          <p:nvPr/>
        </p:nvSpPr>
        <p:spPr>
          <a:xfrm>
            <a:off x="5349240" y="1380744"/>
            <a:ext cx="3429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Multi-channel recruitment and reinforcement training match literature. Gaps: no structured tools, incomplete TNA, no evaluation.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F4F7FB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502920" cy="178308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</a:p>
        </p:txBody>
      </p:sp>
      <p:sp>
        <p:nvSpPr>
          <p:cNvPr id="17" name="Text 15"/>
          <p:cNvSpPr/>
          <p:nvPr/>
        </p:nvSpPr>
        <p:spPr>
          <a:xfrm>
            <a:off x="960120" y="2990088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&amp; Compensation</a:t>
            </a:r>
          </a:p>
        </p:txBody>
      </p:sp>
      <p:sp>
        <p:nvSpPr>
          <p:cNvPr id="18" name="Text 16"/>
          <p:cNvSpPr/>
          <p:nvPr/>
        </p:nvSpPr>
        <p:spPr>
          <a:xfrm>
            <a:off x="960120" y="3392424"/>
            <a:ext cx="3429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KPI-pay link is strong. Weaknesses: annual-only reviews, 30–40% compensation dissatisfaction, no equity audit.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4F7FB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502920" cy="178308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47472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</a:p>
        </p:txBody>
      </p:sp>
      <p:sp>
        <p:nvSpPr>
          <p:cNvPr id="22" name="Text 20"/>
          <p:cNvSpPr/>
          <p:nvPr/>
        </p:nvSpPr>
        <p:spPr>
          <a:xfrm>
            <a:off x="5349240" y="2990088"/>
            <a:ext cx="3429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Theory–Practice Linkage</a:t>
            </a:r>
          </a:p>
        </p:txBody>
      </p:sp>
      <p:sp>
        <p:nvSpPr>
          <p:cNvPr id="23" name="Text 21"/>
          <p:cNvSpPr/>
          <p:nvPr/>
        </p:nvSpPr>
        <p:spPr>
          <a:xfrm>
            <a:off x="5349240" y="3392424"/>
            <a:ext cx="3429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applied in: workforce planning, job design, KPIs, welfare. Gaps explained by budget, sector culture, top-down governance.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HR Effectiveness — Comparative Assessment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8412480" cy="4097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— Recruitment &amp;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78308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94360" cy="178308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96012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Interview Frameworks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71600"/>
            <a:ext cx="3383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behavioral interview question banks per job level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scoring rubrics for each competency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all interviewers on consistent evaluation criteria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78308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594360" cy="178308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13248" y="96012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Aptitude &amp; Skills Assessments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3248" y="1371600"/>
            <a:ext cx="3383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online aptitude tests for AM-level and above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Affordable platforms available (e.g., SHL, cut-e)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predictive validity of selection decisions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78308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594360" cy="178308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297180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Employer Brand Development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3383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Communicate MTL's ownership culture &amp; welfare benefits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Partner with engineering universities in Lahore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LinkedIn for employer branding campaigns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78308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594360" cy="178308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4747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2971800"/>
            <a:ext cx="3383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Evaluation &amp; Full TNA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13248" y="3383280"/>
            <a:ext cx="3383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 Kirkpatrick Level 2 &amp; 3 evaluation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organizational-level TNA to annual planning cycle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behavioral change 3 months post-training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— Performance &amp; Compensation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26187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4864" cy="126187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877824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[Performance] Mid-Year Performance Reviews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" y="1207008"/>
            <a:ext cx="39319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formal mid-year review conversations covering KPI progress, recent feedback, and development goals. Even 30 minutes per employee significantly improves engagement and reduces surprises at year-end.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6187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54864" cy="126187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37176" y="877824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[Performance] Manager Coaching Capability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37176" y="1207008"/>
            <a:ext cx="39319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all managers in delivering specific, behavioral, developmental feedback. Research shows manager quality of feedback is a stronger predictor of performance improvement than appraisal system design.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4160520" cy="126187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54864" cy="1261872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" y="226771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[Compensation] Top Performer Retention Strategy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" y="2596896"/>
            <a:ext cx="39319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differentiated packages for high performers: accelerated pay progression, mentoring from senior leaders, and clear fast-track promotion pathways to reduce poaching by competitors.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12848"/>
            <a:ext cx="4160520" cy="126187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212848"/>
            <a:ext cx="54864" cy="1261872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226771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[Compensation] Pay Transparency &amp; Equity Audit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2596896"/>
            <a:ext cx="39319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Communicate salary bands openly. Conduct a formal pay equity audit to identify any unjustified pay differentials. Transparency reduces perceived unfairness, often more effectively than salary increases.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602736"/>
            <a:ext cx="4160520" cy="126187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54864" cy="1261872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" y="365760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[Compensation] Professional Compensation Survey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" y="3986784"/>
            <a:ext cx="39319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Commission a formal benchmarking survey through an HR consulting firm for statistically reliable market data. Current peer-comparison approach lacks scientific rigor.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60520" cy="1261872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54864" cy="1261872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37176" y="365760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[Compensation] Flexible Benefits Program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7176" y="3986784"/>
            <a:ext cx="393192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 employees to select from a menu of benefits based on personal needs (e.g., extra leave, transport, education support). Increases satisfaction without proportional cost increase.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— Employee Relations &amp; Technology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023360" cy="36576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Relations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77724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Biannual Engagement Surveys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10–15 question pulse surveys twice/year. Act visibly on results and close the feedback loop — this makes surveys meaningful.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023360" cy="7772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Team Meetings for Voice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Encourage managers to hold structured team discussions where employees can raise concerns beyond formal HOD escalation.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99232"/>
            <a:ext cx="4023360" cy="77724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Psychological Safety Investment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environment where employees feel safe to speak up, ask for help, and admit mistakes. Strong predictor of team performance (Google Project Aristotle).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867912"/>
            <a:ext cx="4023360" cy="7772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6791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Move: Compliance → Commitment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4223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from reactive grievance management to proactive engagement. Build trust, recognition, and development as core ER pillars.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841248"/>
            <a:ext cx="4023360" cy="36576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84124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 Technology &amp; Analytics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023360" cy="77724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26187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HRIS / ATS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53619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Digitize recruitment, performance, and training records. Enable data-driven HR decisions and reduce administrative burden.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130552"/>
            <a:ext cx="4023360" cy="7772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13055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CV Screening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40487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screening tools for high-volume junior recruitment. Frees HR team for higher-value interviewing and candidate engagement.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99232"/>
            <a:ext cx="4023360" cy="77724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99923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Performance Platform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27355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KPI tracking, feedback recording, and development goal documentation. Foundation for continuous PM.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67912"/>
            <a:ext cx="4023360" cy="7772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86791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Analytics Capability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142232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HR data to identify turnover risk early, track engagement trends, and connect HR outcomes to business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HR Strategy for MTL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24912" cy="402336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41375"/>
            <a:ext cx="2724785" cy="862330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</a:t>
            </a:r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Learning Organization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Learning a Daily Habit</a:t>
            </a:r>
          </a:p>
        </p:txBody>
      </p:sp>
      <p:sp>
        <p:nvSpPr>
          <p:cNvPr id="9" name="Text 7"/>
          <p:cNvSpPr/>
          <p:nvPr/>
        </p:nvSpPr>
        <p:spPr>
          <a:xfrm>
            <a:off x="438912" y="1691640"/>
            <a:ext cx="2514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 learning as a daily organizational practice — in every meeting, project, and challenge. Foster a Kaizen-aligned culture where managers actively coach, employees share knowledge across departments, and failure is treated as a learning opportunity.</a:t>
            </a:r>
          </a:p>
        </p:txBody>
      </p:sp>
      <p:sp>
        <p:nvSpPr>
          <p:cNvPr id="10" name="Shape 8"/>
          <p:cNvSpPr/>
          <p:nvPr/>
        </p:nvSpPr>
        <p:spPr>
          <a:xfrm>
            <a:off x="3172968" y="841248"/>
            <a:ext cx="2724912" cy="402336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3095" y="841375"/>
            <a:ext cx="2724785" cy="874395"/>
          </a:xfrm>
          <a:prstGeom prst="rect">
            <a:avLst/>
          </a:prstGeom>
          <a:solidFill>
            <a:srgbClr val="0D1B3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841248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</a:t>
            </a:r>
          </a:p>
        </p:txBody>
      </p:sp>
      <p:sp>
        <p:nvSpPr>
          <p:cNvPr id="13" name="Text 11"/>
          <p:cNvSpPr/>
          <p:nvPr/>
        </p:nvSpPr>
        <p:spPr>
          <a:xfrm>
            <a:off x="3813048" y="841248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Performance Culture</a:t>
            </a:r>
          </a:p>
        </p:txBody>
      </p:sp>
      <p:sp>
        <p:nvSpPr>
          <p:cNvPr id="14" name="Text 12"/>
          <p:cNvSpPr/>
          <p:nvPr/>
        </p:nvSpPr>
        <p:spPr>
          <a:xfrm>
            <a:off x="3813048" y="1280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Structure with Human Connection</a:t>
            </a:r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2514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toward Adobe-style check-in model: frequent, developmental manager-employee conversations. Keep KPI structure but add regularity. Make performance conversations normal, helpful, and frequent — not stressful and annual.</a:t>
            </a:r>
          </a:p>
        </p:txBody>
      </p:sp>
      <p:sp>
        <p:nvSpPr>
          <p:cNvPr id="16" name="Shape 14"/>
          <p:cNvSpPr/>
          <p:nvPr/>
        </p:nvSpPr>
        <p:spPr>
          <a:xfrm>
            <a:off x="6025896" y="841248"/>
            <a:ext cx="2724912" cy="4023360"/>
          </a:xfrm>
          <a:prstGeom prst="rect">
            <a:avLst/>
          </a:prstGeom>
          <a:solidFill>
            <a:srgbClr val="F4F7F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26150" y="841375"/>
            <a:ext cx="2724785" cy="862330"/>
          </a:xfrm>
          <a:prstGeom prst="rect">
            <a:avLst/>
          </a:prstGeom>
          <a:solidFill>
            <a:srgbClr val="16637A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71616" y="841248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❤</a:t>
            </a:r>
          </a:p>
        </p:txBody>
      </p:sp>
      <p:sp>
        <p:nvSpPr>
          <p:cNvPr id="19" name="Text 17"/>
          <p:cNvSpPr/>
          <p:nvPr/>
        </p:nvSpPr>
        <p:spPr>
          <a:xfrm>
            <a:off x="6665976" y="841248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Committed Workforce, Not Just Compliant</a:t>
            </a:r>
          </a:p>
        </p:txBody>
      </p:sp>
      <p:sp>
        <p:nvSpPr>
          <p:cNvPr id="20" name="Text 18"/>
          <p:cNvSpPr/>
          <p:nvPr/>
        </p:nvSpPr>
        <p:spPr>
          <a:xfrm>
            <a:off x="6665976" y="128016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Compliance to Commitment</a:t>
            </a:r>
          </a:p>
        </p:txBody>
      </p:sp>
      <p:sp>
        <p:nvSpPr>
          <p:cNvPr id="21" name="Text 19"/>
          <p:cNvSpPr/>
          <p:nvPr/>
        </p:nvSpPr>
        <p:spPr>
          <a:xfrm>
            <a:off x="6144768" y="1691640"/>
            <a:ext cx="251460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 ER from reactive compliance to proactive engagement. Invest in listening, recognition, and development. Build trust so employees want the organization to succeed — not just meet minimum requirements.</a:t>
            </a:r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i="1" dirty="0">
              <a:solidFill>
                <a:srgbClr val="8FA1B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457200" cy="5033772"/>
          </a:xfrm>
          <a:prstGeom prst="rect">
            <a:avLst/>
          </a:prstGeom>
          <a:solidFill>
            <a:srgbClr val="0D7377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6400800" cy="36576"/>
          </a:xfrm>
          <a:prstGeom prst="rect">
            <a:avLst/>
          </a:prstGeom>
          <a:solidFill>
            <a:srgbClr val="E8B84B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046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D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MTL has a structured, compliant, and well-governed HR system across all five core functions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8046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D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Strong foundations in compensation, welfare benefits, and employee ownership culture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8046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B8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Gaps exist in structured recruitment tools, training evaluation, and performance feedback frequency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99816"/>
            <a:ext cx="8046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B8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30–40% compensation dissatisfaction and lack of proactive engagement are key improvement areas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67328"/>
            <a:ext cx="8046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By adopting modern, evidence-based HR practices, MTL can improve performance, satisfaction, and competitiveness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8046720" cy="658368"/>
          </a:xfrm>
          <a:prstGeom prst="rect">
            <a:avLst/>
          </a:prstGeom>
          <a:solidFill>
            <a:srgbClr val="0D7377">
              <a:alpha val="3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"MTL has the foundation. The opportunity is to go deeper — from compliance to commitment, from annual to continuous, from operational to strategic HRM."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52BF1-9FCB-CA03-E664-A48F55784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578" y="759941"/>
            <a:ext cx="2423083" cy="22118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040A6B-4601-0DE2-1038-C10D73557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6" y="759940"/>
            <a:ext cx="2423083" cy="2211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AE0B2-551F-9282-CE96-6FC2E1110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870" y="759941"/>
            <a:ext cx="2615636" cy="2211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562D53-B3AD-4D3A-D5F1-B4762BC7C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605830" y="1781623"/>
            <a:ext cx="2073729" cy="465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23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1968</Words>
  <Application>Microsoft Office PowerPoint</Application>
  <PresentationFormat>On-screen Show (16:9)</PresentationFormat>
  <Paragraphs>358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HRM Practices at Millat Tractors Limited</dc:title>
  <dc:subject>PptxGenJS Presentation</dc:subject>
  <dc:creator>Management Sciences, Comsats University Islamabad</dc:creator>
  <cp:lastModifiedBy>FA24-BBD-025(EMAN RASHEED)</cp:lastModifiedBy>
  <cp:revision>4</cp:revision>
  <dcterms:created xsi:type="dcterms:W3CDTF">2026-05-16T15:16:00Z</dcterms:created>
  <dcterms:modified xsi:type="dcterms:W3CDTF">2026-05-18T17:09:56Z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8A877E6E14F348178EB22CAD8B1E56E4_13</vt:lpwstr>
  </property>
  <property fmtid="{D5CDD505-2E9C-101B-9397-08002B2CF9AE}" pid="3" name="KSOProductBuildVer">
    <vt:lpwstr>1033-12.1.0.26372</vt:lpwstr>
  </property>
</Properties>
</file>